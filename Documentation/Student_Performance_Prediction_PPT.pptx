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018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freetime</c:v>
                  </c:pt>
                  <c:pt idx="1">
                    <c:v>studytime</c:v>
                  </c:pt>
                  <c:pt idx="2">
                    <c:v>age</c:v>
                  </c:pt>
                  <c:pt idx="3">
                    <c:v>parental_edu_avg</c:v>
                  </c:pt>
                  <c:pt idx="4">
                    <c:v>goout</c:v>
                  </c:pt>
                  <c:pt idx="5">
                    <c:v>health</c:v>
                  </c:pt>
                  <c:pt idx="6">
                    <c:v>failures</c:v>
                  </c:pt>
                  <c:pt idx="7">
                    <c:v>absences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0.039</c:v>
                </c:pt>
                <c:pt idx="1">
                  <c:v>0.04</c:v>
                </c:pt>
                <c:pt idx="2">
                  <c:v>0.048</c:v>
                </c:pt>
                <c:pt idx="3">
                  <c:v>0.056</c:v>
                </c:pt>
                <c:pt idx="4">
                  <c:v>0.058</c:v>
                </c:pt>
                <c:pt idx="5">
                  <c:v>0.061</c:v>
                </c:pt>
                <c:pt idx="6">
                  <c:v>0.145</c:v>
                </c:pt>
                <c:pt idx="7">
                  <c:v>0.193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018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018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182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01828"/>
                </a:solidFill>
                <a:latin typeface="Arial"/>
              </a:rPr>
              <a:t>Test RMSE by model (lower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RMSE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018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Decision Tree</c:v>
                  </c:pt>
                  <c:pt idx="1">
                    <c:v>Lasso</c:v>
                  </c:pt>
                  <c:pt idx="2">
                    <c:v>Linear Reg.</c:v>
                  </c:pt>
                  <c:pt idx="3">
                    <c:v>Ridge</c:v>
                  </c:pt>
                  <c:pt idx="4">
                    <c:v>XGBoost</c:v>
                  </c:pt>
                  <c:pt idx="5">
                    <c:v>Gradient Boosting</c:v>
                  </c:pt>
                  <c:pt idx="6">
                    <c:v>Random Forest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4.86</c:v>
                </c:pt>
                <c:pt idx="1">
                  <c:v>4.38</c:v>
                </c:pt>
                <c:pt idx="2">
                  <c:v>4.18</c:v>
                </c:pt>
                <c:pt idx="3">
                  <c:v>4.18</c:v>
                </c:pt>
                <c:pt idx="4">
                  <c:v>3.95</c:v>
                </c:pt>
                <c:pt idx="5">
                  <c:v>3.86</c:v>
                </c:pt>
                <c:pt idx="6">
                  <c:v>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018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018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DB277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FBBF2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54480"/>
            <a:ext cx="374904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ACADEMIC ANALYTICS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Performance </a:t>
            </a:r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9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final academic performance from behavioural and demographic signals — deliberately without prior-term grades, so the model is useful at the start of a term, not the end.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41148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92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 Summer Internship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2303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A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IIHMF, MNNIT Allahabad, Prayagraj  ·  Capstone Project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6126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8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·  UCI Student Performance Dataset  ·  Streamlit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3EE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Grades predicted too late aren't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early-warning system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academic-performance models use mid-term grades (G1, G2) to predict the final grade (G3). That's a shortcut, not a solution: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mid-term grades exist, the term is already half over.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prediction confirms what a teacher could already see — it doesn't give them time to act.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5943600" cy="1417320"/>
          </a:xfrm>
          <a:prstGeom prst="roundRect">
            <a:avLst>
              <a:gd name="adj" fmla="val 6452"/>
            </a:avLst>
          </a:prstGeom>
          <a:solidFill>
            <a:srgbClr val="F3EEF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22452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498848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excludes G1/G2, and predicts G3 using only behavioural, family, and demographic signals available on day one — a harder problem, but a genuinely usable one.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term, on a timeline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0" y="3931920"/>
            <a:ext cx="4572000" cy="0"/>
          </a:xfrm>
          <a:prstGeom prst="line">
            <a:avLst/>
          </a:prstGeom>
          <a:noFill/>
          <a:ln w="25400">
            <a:solidFill>
              <a:srgbClr val="E4E7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76872" y="3867912"/>
            <a:ext cx="128016" cy="128016"/>
          </a:xfrm>
          <a:prstGeom prst="ellipse">
            <a:avLst/>
          </a:prstGeom>
          <a:solidFill>
            <a:srgbClr val="E4E7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4041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34272" y="3867912"/>
            <a:ext cx="128016" cy="128016"/>
          </a:xfrm>
          <a:prstGeom prst="ellipse">
            <a:avLst/>
          </a:prstGeom>
          <a:solidFill>
            <a:srgbClr val="E4E7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4041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268712" y="3867912"/>
            <a:ext cx="128016" cy="128016"/>
          </a:xfrm>
          <a:prstGeom prst="ellipse">
            <a:avLst/>
          </a:prstGeom>
          <a:solidFill>
            <a:srgbClr val="E4E7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0" y="4041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548872" y="3867912"/>
            <a:ext cx="128016" cy="128016"/>
          </a:xfrm>
          <a:prstGeom prst="ellipse">
            <a:avLst/>
          </a:prstGeom>
          <a:solidFill>
            <a:srgbClr val="E4E7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64240" y="4041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46920" y="29718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D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9646920" y="29992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predict here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332720" y="3474720"/>
            <a:ext cx="0" cy="411480"/>
          </a:xfrm>
          <a:prstGeom prst="line">
            <a:avLst/>
          </a:prstGeom>
          <a:noFill/>
          <a:ln w="19050">
            <a:solidFill>
              <a:srgbClr val="DB2777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995160" y="23317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E9F7F1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23591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here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40880" y="2834640"/>
            <a:ext cx="0" cy="1051560"/>
          </a:xfrm>
          <a:prstGeom prst="line">
            <a:avLst/>
          </a:prstGeom>
          <a:noFill/>
          <a:ln w="19050">
            <a:solidFill>
              <a:srgbClr val="12805C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3EE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needed to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8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402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E106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without shortcuts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2084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final grade (G3) using only baseline behavioural and demographic variables — no G1/G2.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196596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8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22402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E1065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47872" y="292608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real drivers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47872" y="3566160"/>
            <a:ext cx="2084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leading factors — failures, absences, study habits — most affect outcomes.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196596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8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18504" y="22402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E1065"/>
          </a:solidFill>
          <a:ln/>
        </p:spPr>
      </p:sp>
      <p:sp>
        <p:nvSpPr>
          <p:cNvPr id="17" name="Text 15"/>
          <p:cNvSpPr/>
          <p:nvPr/>
        </p:nvSpPr>
        <p:spPr>
          <a:xfrm>
            <a:off x="6318504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18504" y="292608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Compare, don't guess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18504" y="3566160"/>
            <a:ext cx="2084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seven regression algorithms rather than settling on the first one that runs.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0536" y="196596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8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89136" y="22402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E1065"/>
          </a:solidFill>
          <a:ln/>
        </p:spPr>
      </p:sp>
      <p:sp>
        <p:nvSpPr>
          <p:cNvPr id="22" name="Text 20"/>
          <p:cNvSpPr/>
          <p:nvPr/>
        </p:nvSpPr>
        <p:spPr>
          <a:xfrm>
            <a:off x="9089136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89136" y="292608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something usable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089136" y="3566160"/>
            <a:ext cx="2084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final model behind a live Streamlit form for direct, non-technical use.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3EE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UCI Student Performance Dataset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Cortez &amp; Silva (2008) · Math course · Two Portuguese secondary schools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2E106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(rows)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214884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2E1065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2286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154680" y="2971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attributes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214884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2E1065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2286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760720" y="2971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duplicates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66760" y="214884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2E1065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86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 / G2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66760" y="2971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3251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5994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sex, address, family size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0" y="425196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43251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Background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45994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education &amp; occupation, cohabitation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1937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History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54681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time, past failures, school support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0" y="512064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51937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26480" y="54681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time, social outings, alcohol use, health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26480" y="6080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G1/G2 are excluded: both correlate extremely strongly with G3 (r ≈ 0.80–0.90) but only exist mid-term — using them would defeat the point of an early-warning system.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3EE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965960" y="2971800"/>
            <a:ext cx="68580" cy="0"/>
          </a:xfrm>
          <a:prstGeom prst="line">
            <a:avLst/>
          </a:prstGeom>
          <a:noFill/>
          <a:ln w="254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4688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01828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6132" y="2267712"/>
            <a:ext cx="402336" cy="402336"/>
          </a:xfrm>
          <a:prstGeom prst="ellipse">
            <a:avLst/>
          </a:prstGeom>
          <a:solidFill>
            <a:srgbClr val="2E10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6132" y="2267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614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309067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Outliers, encoding,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removal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51860" y="2971800"/>
            <a:ext cx="68580" cy="0"/>
          </a:xfrm>
          <a:prstGeom prst="line">
            <a:avLst/>
          </a:prstGeom>
          <a:noFill/>
          <a:ln w="25400">
            <a:solidFill>
              <a:srgbClr val="E4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34540" y="24688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01828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2267712"/>
            <a:ext cx="402336" cy="402336"/>
          </a:xfrm>
          <a:prstGeom prst="ellipse">
            <a:avLst/>
          </a:prstGeom>
          <a:solidFill>
            <a:srgbClr val="2E10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2267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34540" y="27614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080260" y="309067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correlation analysis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2971800"/>
            <a:ext cx="68580" cy="0"/>
          </a:xfrm>
          <a:prstGeom prst="line">
            <a:avLst/>
          </a:prstGeom>
          <a:noFill/>
          <a:ln w="25400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24688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01828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27932" y="2267712"/>
            <a:ext cx="402336" cy="402336"/>
          </a:xfrm>
          <a:prstGeom prst="ellipse">
            <a:avLst/>
          </a:prstGeom>
          <a:solidFill>
            <a:srgbClr val="2E10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7932" y="2267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27614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566160" y="309067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features,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importance-based selection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23660" y="2971800"/>
            <a:ext cx="68580" cy="0"/>
          </a:xfrm>
          <a:prstGeom prst="line">
            <a:avLst/>
          </a:prstGeom>
          <a:noFill/>
          <a:ln w="25400">
            <a:solidFill>
              <a:srgbClr val="E4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06340" y="24688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01828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13832" y="2267712"/>
            <a:ext cx="402336" cy="402336"/>
          </a:xfrm>
          <a:prstGeom prst="ellipse">
            <a:avLst/>
          </a:prstGeom>
          <a:solidFill>
            <a:srgbClr val="2E10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2267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06340" y="27614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52060" y="309067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train-test,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909560" y="2971800"/>
            <a:ext cx="68580" cy="0"/>
          </a:xfrm>
          <a:prstGeom prst="line">
            <a:avLst/>
          </a:prstGeom>
          <a:noFill/>
          <a:ln w="25400">
            <a:solidFill>
              <a:srgbClr val="E4E7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24688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01828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99732" y="2267712"/>
            <a:ext cx="402336" cy="402336"/>
          </a:xfrm>
          <a:prstGeom prst="ellipse">
            <a:avLst/>
          </a:prstGeom>
          <a:solidFill>
            <a:srgbClr val="2E10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9732" y="2267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92240" y="27614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37960" y="309067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regression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compared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395460" y="2971800"/>
            <a:ext cx="68580" cy="0"/>
          </a:xfrm>
          <a:prstGeom prst="line">
            <a:avLst/>
          </a:prstGeom>
          <a:noFill/>
          <a:ln w="25400">
            <a:solidFill>
              <a:srgbClr val="E4E7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78140" y="24688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01828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485632" y="2267712"/>
            <a:ext cx="402336" cy="402336"/>
          </a:xfrm>
          <a:prstGeom prst="ellipse">
            <a:avLst/>
          </a:prstGeom>
          <a:solidFill>
            <a:srgbClr val="2E10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85632" y="2267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78140" y="27614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023860" y="309067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on the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candidate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464040" y="246888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DB2777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76200" dist="25400" dir="5400000">
              <a:srgbClr val="101828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971532" y="2267712"/>
            <a:ext cx="402336" cy="402336"/>
          </a:xfrm>
          <a:prstGeom prst="ellipse">
            <a:avLst/>
          </a:prstGeom>
          <a:solidFill>
            <a:srgbClr val="2E10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71532" y="2267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464040" y="27614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509760" y="309067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D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D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" y="4434840"/>
            <a:ext cx="10332720" cy="1417320"/>
          </a:xfrm>
          <a:prstGeom prst="roundRect">
            <a:avLst>
              <a:gd name="adj" fmla="val 6452"/>
            </a:avLst>
          </a:prstGeom>
          <a:solidFill>
            <a:srgbClr val="F3EEFC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4617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Documentation-first engineering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14400" y="49377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backed by a running project log — project scope, a phase-by-phase task tracker, an engineering decision log (with rejected alternatives), and an issue log — so nothing gets decided by intuition alone.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3EE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data model-ready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12848"/>
            <a:ext cx="82296" cy="82296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214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Capping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`absences` winsorized at the IQR upper bound (20 days) rather than dropped — keeps all 395 records intact.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50215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students affected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06440" y="201168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8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0" y="2212848"/>
            <a:ext cx="82296" cy="82296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1214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2514600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yes/no &amp; binary-nominal columns mapped to 0/1; true multi-category columns (job, reason, guardian) one-hot encoded.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350215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categorical columns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8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270248"/>
            <a:ext cx="82296" cy="82296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1788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Removal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572000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and G2 dropped from the feature set at the earliest stage — before EDA, before feature engineering.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55955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design, not an afterthought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06440" y="406908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8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4270248"/>
            <a:ext cx="82296" cy="82296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41788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— Deferred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35040" y="4572000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is fit only inside the training pipeline, never on the full dataset — avoids leaking test-set statistics into training.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555955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over convenience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3EE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actually shows</a:t>
            </a:r>
            <a:endParaRPr lang="en-US" sz="3000" dirty="0"/>
          </a:p>
        </p:txBody>
      </p:sp>
      <p:pic>
        <p:nvPicPr>
          <p:cNvPr id="5" name="Image 0" descr="assets/05_correlation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57784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636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— numeric features vs G3 (G1/G2 excluded)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400800" y="1691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feature importance (top 8)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0" y="2011680"/>
          <a:ext cx="5212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400800" y="484632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3EEFC"/>
          </a:solidFill>
          <a:ln/>
        </p:spPr>
      </p:sp>
      <p:sp>
        <p:nvSpPr>
          <p:cNvPr id="10" name="Text 6"/>
          <p:cNvSpPr/>
          <p:nvPr/>
        </p:nvSpPr>
        <p:spPr>
          <a:xfrm>
            <a:off x="6629400" y="4983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surprise in this phase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629400" y="528523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`absences` has almost no linear correlation with G3 (r ≈ 0.03) — yet it's the single most important feature by Random Forest importance. Its effect is non-linear, not absent.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3EE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algorithms, one fair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65960"/>
            <a:ext cx="2002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560320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baseline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44952" y="17830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4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9544" y="1965960"/>
            <a:ext cx="2002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9544" y="2560320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L2-regularized linear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41264" y="17830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4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05856" y="1965960"/>
            <a:ext cx="2002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05856" y="2560320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L1-regularized, sparse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37576" y="17830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1965960"/>
            <a:ext cx="2002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02168" y="2560320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transparent tree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319272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502152"/>
            <a:ext cx="2002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" y="4096512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Bagged tree ensemble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44952" y="3319272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9544" y="3502152"/>
            <a:ext cx="2002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9544" y="4096512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boosted trees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41264" y="3319272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2E1065"/>
          </a:solidFill>
          <a:ln w="19050">
            <a:solidFill>
              <a:srgbClr val="2E10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05856" y="3502152"/>
            <a:ext cx="2002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05856" y="4096512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gradient boosting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50976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protocol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09760" y="2103120"/>
            <a:ext cx="21031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80/20 train-test split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5-fold cross-validation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GridSearchCV tuning on the best candidate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Scaler fit on train fold only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3EEFC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86460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train seven models instead of one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516636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G1/G2 excluded, no single feature dominates — the strongest remaining predictor (`failures`) explains only a fraction of the variance. A fair comparison across linear, regularized, tree, and boosted models was necessary to find the best fit for a genuinely weak-signal problem, rather than assuming one algorithm would obviously win.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3EE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models actually performed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5943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292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Gradient Boosting led the untuned comparison; XGBoost was carried forward for tuning and deployment.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720840" y="1737360"/>
            <a:ext cx="4892040" cy="3794760"/>
          </a:xfrm>
          <a:prstGeom prst="roundRect">
            <a:avLst>
              <a:gd name="adj" fmla="val 2892"/>
            </a:avLst>
          </a:prstGeom>
          <a:solidFill>
            <a:srgbClr val="2E1065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0" y="1920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DEPLOYED MODEL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40880" y="22128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Regressor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040880" y="267004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8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GridSearchCV — n_estimators=50, max_depth=4, learning_rate=0.05, subsample=0.8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040880" y="33375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04088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A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503920" y="33375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50392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A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966960" y="33375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0.247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996696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A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040880" y="4434840"/>
            <a:ext cx="420624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0880" y="45720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9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improved untuned XGBoost's test R² from 0.238 to 0.247 — a modest but real gain from a focused hyperparameter search.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3EE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form input to prediction, instantly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0350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77800" dist="63500" dir="5400000">
              <a:srgbClr val="10182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6035040" cy="777240"/>
          </a:xfrm>
          <a:prstGeom prst="roundRect">
            <a:avLst>
              <a:gd name="adj" fmla="val 14118"/>
            </a:avLst>
          </a:prstGeom>
          <a:solidFill>
            <a:srgbClr val="2E106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94560"/>
            <a:ext cx="6035040" cy="320040"/>
          </a:xfrm>
          <a:prstGeom prst="rect">
            <a:avLst/>
          </a:prstGeom>
          <a:solidFill>
            <a:srgbClr val="2E106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Performance Predictor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RESULT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13.4 </a:t>
            </a:r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 20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0" y="315468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9F7F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154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threshold met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8680" y="3703320"/>
            <a:ext cx="5394960" cy="164592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703320"/>
            <a:ext cx="3614623" cy="16459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913632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          10 (pass)            20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44348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44348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481888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study time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0" y="48188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(2–5h)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520293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class failures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520293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55869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558698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59710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higher education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597103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" y="63550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relationship quality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63550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38251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preview, rebuilt to match the deployed app's design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49440" y="1737360"/>
            <a:ext cx="4663440" cy="1463040"/>
          </a:xfrm>
          <a:prstGeom prst="roundRect">
            <a:avLst>
              <a:gd name="adj" fmla="val 7500"/>
            </a:avLst>
          </a:prstGeom>
          <a:solidFill>
            <a:srgbClr val="2E1065"/>
          </a:solidFill>
          <a:ln/>
        </p:spPr>
      </p:sp>
      <p:sp>
        <p:nvSpPr>
          <p:cNvPr id="30" name="Text 28"/>
          <p:cNvSpPr/>
          <p:nvPr/>
        </p:nvSpPr>
        <p:spPr>
          <a:xfrm>
            <a:off x="722376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221284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studentperformanceprediction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-kbnar9atvbm9bfjbzrzrsa.streamlit.app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3429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on submit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0" y="3794760"/>
            <a:ext cx="256032" cy="256032"/>
          </a:xfrm>
          <a:prstGeom prst="ellipse">
            <a:avLst/>
          </a:prstGeom>
          <a:solidFill>
            <a:srgbClr val="F3EEFC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3794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0" y="37490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values are assembled into the same 28-feature layout used in training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49440" y="4389120"/>
            <a:ext cx="256032" cy="256032"/>
          </a:xfrm>
          <a:prstGeom prst="ellipse">
            <a:avLst/>
          </a:prstGeom>
          <a:solidFill>
            <a:srgbClr val="F3EEFC"/>
          </a:solidFill>
          <a:ln/>
        </p:spPr>
      </p:sp>
      <p:sp>
        <p:nvSpPr>
          <p:cNvPr id="37" name="Text 35"/>
          <p:cNvSpPr/>
          <p:nvPr/>
        </p:nvSpPr>
        <p:spPr>
          <a:xfrm>
            <a:off x="6949440" y="4389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0" y="43434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saved pipeline (scaler + tuned XGBoost) runs prediction in-process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949440" y="4983480"/>
            <a:ext cx="256032" cy="256032"/>
          </a:xfrm>
          <a:prstGeom prst="ellipse">
            <a:avLst/>
          </a:prstGeom>
          <a:solidFill>
            <a:srgbClr val="F3EEFC"/>
          </a:solidFill>
          <a:ln/>
        </p:spPr>
      </p:sp>
      <p:sp>
        <p:nvSpPr>
          <p:cNvPr id="40" name="Text 38"/>
          <p:cNvSpPr/>
          <p:nvPr/>
        </p:nvSpPr>
        <p:spPr>
          <a:xfrm>
            <a:off x="6949440" y="4983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15200" y="49377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clipped to the valid 0–20 grade range and shown with a pass/warning badge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3EEF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harder, more honest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problem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9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excluding G1/G2, this project traded away the inflated accuracy that comes from near-leakage — and built something a teacher could actually use on day one of term instead of after it's too late.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201168" cy="20116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53872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 live, working Streamlit application — not just a notebook result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178808"/>
            <a:ext cx="201168" cy="20116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10565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`failures` and `absences` emerged as the most meaningful leading indicators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745736"/>
            <a:ext cx="201168" cy="20116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67258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cleaning, feature, and model decision is logged with its reasoning and rejected alternatives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1051560"/>
            <a:ext cx="4297680" cy="4023360"/>
          </a:xfrm>
          <a:prstGeom prst="roundRect">
            <a:avLst>
              <a:gd name="adj" fmla="val 27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0" y="17830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0.247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7589520" y="27889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8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test data, with only leading indicators — no mid-term grades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9520" y="3611880"/>
            <a:ext cx="374904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37947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C6A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work using this dataset typically reports much higher R² — but only by including G1/G2. That comparison isn't apples-to-apples, and this project's lower number reflects a deliberately harder, more useful framing rather than a weaker model.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3EE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31927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3EE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two schools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2862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past the two Portuguese schools in this dataset to test generalisability across institutions and education systems.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50792" y="1828800"/>
            <a:ext cx="331927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8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9392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3EEFC"/>
          </a:solidFill>
          <a:ln/>
        </p:spPr>
      </p:sp>
      <p:sp>
        <p:nvSpPr>
          <p:cNvPr id="12" name="Text 10"/>
          <p:cNvSpPr/>
          <p:nvPr/>
        </p:nvSpPr>
        <p:spPr>
          <a:xfrm>
            <a:off x="4279392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79392" y="265176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signals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79392" y="3108960"/>
            <a:ext cx="2862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single-snapshot attendance/behaviour with trends over time, not a static term average.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52944" y="1828800"/>
            <a:ext cx="331927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8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81544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3EE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81544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81544" y="265176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81544" y="3108960"/>
            <a:ext cx="2862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model doesn't disproportionately flag students from particular demographic groups.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3EE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519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directly to school learning-management systems for automatic data ingestion.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97880" y="411480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3EEFC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42519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explainability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45720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SHAP-based explanations to the Streamlit UI so educators see *why* a student was flagged.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2026-07-13T06:58:04Z</dcterms:created>
  <dcterms:modified xsi:type="dcterms:W3CDTF">2026-07-13T06:58:04Z</dcterms:modified>
</cp:coreProperties>
</file>